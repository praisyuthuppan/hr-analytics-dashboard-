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1"/>
  </p:sldMasterIdLst>
  <p:notesMasterIdLst>
    <p:notesMasterId r:id="rId11"/>
  </p:notesMasterIdLst>
  <p:sldIdLst>
    <p:sldId id="256" r:id="rId2"/>
    <p:sldId id="258" r:id="rId3"/>
    <p:sldId id="259" r:id="rId4"/>
    <p:sldId id="257"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40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7D6C7B-7A03-44CD-A328-DEF74EEFE9E9}"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80D427-5A64-4D0E-AEFF-B501882FDBA9}" type="slidenum">
              <a:rPr lang="en-IN" smtClean="0"/>
              <a:t>‹#›</a:t>
            </a:fld>
            <a:endParaRPr lang="en-IN"/>
          </a:p>
        </p:txBody>
      </p:sp>
    </p:spTree>
    <p:extLst>
      <p:ext uri="{BB962C8B-B14F-4D97-AF65-F5344CB8AC3E}">
        <p14:creationId xmlns:p14="http://schemas.microsoft.com/office/powerpoint/2010/main" val="4108725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Thank You</a:t>
            </a:r>
          </a:p>
        </p:txBody>
      </p:sp>
      <p:sp>
        <p:nvSpPr>
          <p:cNvPr id="4" name="Slide Number Placeholder 3"/>
          <p:cNvSpPr>
            <a:spLocks noGrp="1"/>
          </p:cNvSpPr>
          <p:nvPr>
            <p:ph type="sldNum" sz="quarter" idx="5"/>
          </p:nvPr>
        </p:nvSpPr>
        <p:spPr/>
        <p:txBody>
          <a:bodyPr/>
          <a:lstStyle/>
          <a:p>
            <a:fld id="{CD80D427-5A64-4D0E-AEFF-B501882FDBA9}" type="slidenum">
              <a:rPr lang="en-IN" smtClean="0"/>
              <a:t>9</a:t>
            </a:fld>
            <a:endParaRPr lang="en-IN"/>
          </a:p>
        </p:txBody>
      </p:sp>
    </p:spTree>
    <p:extLst>
      <p:ext uri="{BB962C8B-B14F-4D97-AF65-F5344CB8AC3E}">
        <p14:creationId xmlns:p14="http://schemas.microsoft.com/office/powerpoint/2010/main" val="2586548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1807650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159892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99141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962585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62E83E-81F4-42D4-BB60-0BC72DF7AF1F}" type="datetimeFigureOut">
              <a:rPr lang="en-IN" smtClean="0"/>
              <a:t>14-03-2026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2873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62E83E-81F4-42D4-BB60-0BC72DF7AF1F}" type="datetimeFigureOut">
              <a:rPr lang="en-IN" smtClean="0"/>
              <a:t>14-03-2026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22840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62E83E-81F4-42D4-BB60-0BC72DF7AF1F}" type="datetimeFigureOut">
              <a:rPr lang="en-IN" smtClean="0"/>
              <a:t>14-03-2026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3886816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814635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2266174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535142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8AD00A-E0F3-4D75-A173-E510AF224B4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740468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1734421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8AD00A-E0F3-4D75-A173-E510AF224B4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35116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662E83E-81F4-42D4-BB60-0BC72DF7AF1F}" type="datetimeFigureOut">
              <a:rPr lang="en-IN" smtClean="0"/>
              <a:t>14-03-2026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3045761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2338026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62E83E-81F4-42D4-BB60-0BC72DF7AF1F}"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8AD00A-E0F3-4D75-A173-E510AF224B42}" type="slidenum">
              <a:rPr lang="en-IN" smtClean="0"/>
              <a:t>‹#›</a:t>
            </a:fld>
            <a:endParaRPr lang="en-IN"/>
          </a:p>
        </p:txBody>
      </p:sp>
    </p:spTree>
    <p:extLst>
      <p:ext uri="{BB962C8B-B14F-4D97-AF65-F5344CB8AC3E}">
        <p14:creationId xmlns:p14="http://schemas.microsoft.com/office/powerpoint/2010/main" val="2478678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662E83E-81F4-42D4-BB60-0BC72DF7AF1F}" type="datetimeFigureOut">
              <a:rPr lang="en-IN" smtClean="0"/>
              <a:t>14-03-2026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08AD00A-E0F3-4D75-A173-E510AF224B42}" type="slidenum">
              <a:rPr lang="en-IN" smtClean="0"/>
              <a:t>‹#›</a:t>
            </a:fld>
            <a:endParaRPr lang="en-IN"/>
          </a:p>
        </p:txBody>
      </p:sp>
    </p:spTree>
    <p:extLst>
      <p:ext uri="{BB962C8B-B14F-4D97-AF65-F5344CB8AC3E}">
        <p14:creationId xmlns:p14="http://schemas.microsoft.com/office/powerpoint/2010/main" val="1366469602"/>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822" r:id="rId15"/>
    <p:sldLayoutId id="214748382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BDC024DD-CA0F-5177-D64E-07E8D4AC48DA}"/>
              </a:ext>
            </a:extLst>
          </p:cNvPr>
          <p:cNvPicPr>
            <a:picLocks noChangeAspect="1"/>
          </p:cNvPicPr>
          <p:nvPr/>
        </p:nvPicPr>
        <p:blipFill>
          <a:blip r:embed="rId2">
            <a:duotone>
              <a:schemeClr val="bg2">
                <a:shade val="45000"/>
                <a:satMod val="135000"/>
              </a:schemeClr>
              <a:prstClr val="white"/>
            </a:duotone>
            <a:alphaModFix amt="40000"/>
          </a:blip>
          <a:srcRect t="7865" b="7865"/>
          <a:stretch>
            <a:fillRect/>
          </a:stretch>
        </p:blipFill>
        <p:spPr>
          <a:xfrm>
            <a:off x="-1524" y="10"/>
            <a:ext cx="12192000" cy="6857990"/>
          </a:xfrm>
          <a:prstGeom prst="rect">
            <a:avLst/>
          </a:prstGeom>
        </p:spPr>
      </p:pic>
      <p:sp>
        <p:nvSpPr>
          <p:cNvPr id="2" name="Title 1">
            <a:extLst>
              <a:ext uri="{FF2B5EF4-FFF2-40B4-BE49-F238E27FC236}">
                <a16:creationId xmlns:a16="http://schemas.microsoft.com/office/drawing/2014/main" id="{8138878D-2BDA-2694-8D60-EDEDFD90B367}"/>
              </a:ext>
            </a:extLst>
          </p:cNvPr>
          <p:cNvSpPr>
            <a:spLocks noGrp="1"/>
          </p:cNvSpPr>
          <p:nvPr>
            <p:ph type="ctrTitle"/>
          </p:nvPr>
        </p:nvSpPr>
        <p:spPr/>
        <p:txBody>
          <a:bodyPr>
            <a:normAutofit/>
          </a:bodyPr>
          <a:lstStyle/>
          <a:p>
            <a:r>
              <a:rPr lang="en-IN" sz="8000" b="1" dirty="0">
                <a:solidFill>
                  <a:srgbClr val="46486B"/>
                </a:solidFill>
                <a:latin typeface="Times New Roman" panose="02020603050405020304" pitchFamily="18" charset="0"/>
                <a:cs typeface="Times New Roman" panose="02020603050405020304" pitchFamily="18" charset="0"/>
              </a:rPr>
              <a:t>HR ANALYTICS</a:t>
            </a:r>
          </a:p>
        </p:txBody>
      </p:sp>
      <p:sp>
        <p:nvSpPr>
          <p:cNvPr id="3" name="Subtitle 2">
            <a:extLst>
              <a:ext uri="{FF2B5EF4-FFF2-40B4-BE49-F238E27FC236}">
                <a16:creationId xmlns:a16="http://schemas.microsoft.com/office/drawing/2014/main" id="{29951FF2-C31D-8EAF-1E6A-91A492785839}"/>
              </a:ext>
            </a:extLst>
          </p:cNvPr>
          <p:cNvSpPr>
            <a:spLocks noGrp="1"/>
          </p:cNvSpPr>
          <p:nvPr>
            <p:ph type="subTitle" idx="1"/>
          </p:nvPr>
        </p:nvSpPr>
        <p:spPr/>
        <p:txBody>
          <a:bodyPr>
            <a:normAutofit/>
          </a:bodyPr>
          <a:lstStyle/>
          <a:p>
            <a:r>
              <a:rPr lang="en-IN" b="1" dirty="0">
                <a:latin typeface="Times New Roman" panose="02020603050405020304" pitchFamily="18" charset="0"/>
                <a:cs typeface="Times New Roman" panose="02020603050405020304" pitchFamily="18" charset="0"/>
              </a:rPr>
              <a:t>Name: PRAISY UTHUPPAN</a:t>
            </a:r>
          </a:p>
        </p:txBody>
      </p:sp>
    </p:spTree>
    <p:extLst>
      <p:ext uri="{BB962C8B-B14F-4D97-AF65-F5344CB8AC3E}">
        <p14:creationId xmlns:p14="http://schemas.microsoft.com/office/powerpoint/2010/main" val="113602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2013-269C-A3E1-0A28-835FD76952B7}"/>
              </a:ext>
            </a:extLst>
          </p:cNvPr>
          <p:cNvSpPr>
            <a:spLocks noGrp="1"/>
          </p:cNvSpPr>
          <p:nvPr>
            <p:ph type="title"/>
          </p:nvPr>
        </p:nvSpPr>
        <p:spPr>
          <a:xfrm>
            <a:off x="1702965" y="624110"/>
            <a:ext cx="9801647" cy="1280890"/>
          </a:xfrm>
        </p:spPr>
        <p:txBody>
          <a:bodyPr>
            <a:normAutofit/>
          </a:bodyPr>
          <a:lstStyle/>
          <a:p>
            <a:pPr algn="ctr"/>
            <a:r>
              <a:rPr lang="en-IN" sz="4800" dirty="0">
                <a:latin typeface="Times New Roman" panose="02020603050405020304" pitchFamily="18" charset="0"/>
                <a:cs typeface="Times New Roman" panose="02020603050405020304" pitchFamily="18" charset="0"/>
              </a:rPr>
              <a:t>Introduction to HR Analytics</a:t>
            </a:r>
          </a:p>
        </p:txBody>
      </p:sp>
      <p:sp>
        <p:nvSpPr>
          <p:cNvPr id="4" name="Rectangle 1">
            <a:extLst>
              <a:ext uri="{FF2B5EF4-FFF2-40B4-BE49-F238E27FC236}">
                <a16:creationId xmlns:a16="http://schemas.microsoft.com/office/drawing/2014/main" id="{252B95A1-DA7A-34A5-5AC6-C39BDF3CF5AC}"/>
              </a:ext>
            </a:extLst>
          </p:cNvPr>
          <p:cNvSpPr>
            <a:spLocks noGrp="1" noChangeArrowheads="1"/>
          </p:cNvSpPr>
          <p:nvPr>
            <p:ph idx="1"/>
          </p:nvPr>
        </p:nvSpPr>
        <p:spPr bwMode="auto">
          <a:xfrm>
            <a:off x="1233182" y="2204194"/>
            <a:ext cx="989062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 Analytics is the process of analyzing employee data to improve workforce management and organizational        performance.</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organizations make data-driven HR decisions instead of relying only on experience or assumptions.</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 analytics is used to study important factors like employee performance, job satisfaction, and employee attrition.</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analyzing HR data, companies can identify patterns and trends in employee behavior.</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 such as Tableau help visualize HR data through dashboards, making it easier for managers to understand insights and take action</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84416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B37A-A14E-0E6B-6631-7199ED1B9924}"/>
              </a:ext>
            </a:extLst>
          </p:cNvPr>
          <p:cNvSpPr>
            <a:spLocks noGrp="1"/>
          </p:cNvSpPr>
          <p:nvPr>
            <p:ph type="title"/>
          </p:nvPr>
        </p:nvSpPr>
        <p:spPr>
          <a:xfrm>
            <a:off x="1208015" y="624110"/>
            <a:ext cx="10296597" cy="1280890"/>
          </a:xfrm>
        </p:spPr>
        <p:txBody>
          <a:bodyPr>
            <a:normAutofit/>
          </a:bodyPr>
          <a:lstStyle/>
          <a:p>
            <a:pPr algn="ctr"/>
            <a:r>
              <a:rPr lang="en-IN" sz="4400" dirty="0">
                <a:latin typeface="Times New Roman" panose="02020603050405020304" pitchFamily="18" charset="0"/>
                <a:cs typeface="Times New Roman" panose="02020603050405020304" pitchFamily="18" charset="0"/>
              </a:rPr>
              <a:t>Objective of Study</a:t>
            </a:r>
          </a:p>
        </p:txBody>
      </p:sp>
      <p:sp>
        <p:nvSpPr>
          <p:cNvPr id="4" name="Rectangle 1">
            <a:extLst>
              <a:ext uri="{FF2B5EF4-FFF2-40B4-BE49-F238E27FC236}">
                <a16:creationId xmlns:a16="http://schemas.microsoft.com/office/drawing/2014/main" id="{4816AB75-EA86-C924-D72D-7FBF11E9CA2D}"/>
              </a:ext>
            </a:extLst>
          </p:cNvPr>
          <p:cNvSpPr>
            <a:spLocks noGrp="1" noChangeArrowheads="1"/>
          </p:cNvSpPr>
          <p:nvPr>
            <p:ph idx="1"/>
          </p:nvPr>
        </p:nvSpPr>
        <p:spPr bwMode="auto">
          <a:xfrm>
            <a:off x="1837189" y="2435736"/>
            <a:ext cx="9111459"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employee attrition patterns within the organization using HR data.</a:t>
            </a:r>
          </a:p>
          <a:p>
            <a:pPr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key factors influencing employee turnover such as age, department, job role, and work experience.</a:t>
            </a:r>
          </a:p>
          <a:p>
            <a:pPr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visualize HR data using an interactive dashboard for better understanding and decision-making.</a:t>
            </a:r>
          </a:p>
          <a:p>
            <a:pPr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important HR metrics like total employees, active employees, and attrition rate.</a:t>
            </a:r>
          </a:p>
          <a:p>
            <a:pPr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meaningful insights that can help organizations improve employee retention and workforce management.</a:t>
            </a:r>
          </a:p>
        </p:txBody>
      </p:sp>
    </p:spTree>
    <p:extLst>
      <p:ext uri="{BB962C8B-B14F-4D97-AF65-F5344CB8AC3E}">
        <p14:creationId xmlns:p14="http://schemas.microsoft.com/office/powerpoint/2010/main" val="3833425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A50CB-FCB9-2775-5F75-4549C44095DA}"/>
              </a:ext>
            </a:extLst>
          </p:cNvPr>
          <p:cNvSpPr>
            <a:spLocks noGrp="1"/>
          </p:cNvSpPr>
          <p:nvPr>
            <p:ph type="title"/>
          </p:nvPr>
        </p:nvSpPr>
        <p:spPr>
          <a:xfrm>
            <a:off x="1417739" y="771786"/>
            <a:ext cx="10086873" cy="1133213"/>
          </a:xfrm>
        </p:spPr>
        <p:txBody>
          <a:bodyPr>
            <a:normAutofit/>
          </a:bodyPr>
          <a:lstStyle/>
          <a:p>
            <a:pPr algn="ctr"/>
            <a:r>
              <a:rPr lang="en-IN" sz="4400" dirty="0">
                <a:latin typeface="Times New Roman" panose="02020603050405020304" pitchFamily="18" charset="0"/>
                <a:cs typeface="Times New Roman" panose="02020603050405020304" pitchFamily="18" charset="0"/>
              </a:rPr>
              <a:t>Calculated fields used</a:t>
            </a:r>
          </a:p>
        </p:txBody>
      </p:sp>
      <p:sp>
        <p:nvSpPr>
          <p:cNvPr id="3" name="Content Placeholder 2">
            <a:extLst>
              <a:ext uri="{FF2B5EF4-FFF2-40B4-BE49-F238E27FC236}">
                <a16:creationId xmlns:a16="http://schemas.microsoft.com/office/drawing/2014/main" id="{8420A41D-5BED-E31A-BD88-E2E711B47E88}"/>
              </a:ext>
            </a:extLst>
          </p:cNvPr>
          <p:cNvSpPr>
            <a:spLocks noGrp="1"/>
          </p:cNvSpPr>
          <p:nvPr>
            <p:ph idx="1"/>
          </p:nvPr>
        </p:nvSpPr>
        <p:spPr>
          <a:xfrm>
            <a:off x="3098800" y="2641600"/>
            <a:ext cx="8255000" cy="4216400"/>
          </a:xfrm>
        </p:spPr>
        <p:txBody>
          <a:bodyPr>
            <a:normAutofit/>
          </a:bodyPr>
          <a:lstStyle/>
          <a:p>
            <a:pPr>
              <a:lnSpc>
                <a:spcPct val="150000"/>
              </a:lnSpc>
            </a:pPr>
            <a:r>
              <a:rPr lang="en-US" sz="1600" dirty="0">
                <a:latin typeface="Times New Roman" panose="02020603050405020304" pitchFamily="18" charset="0"/>
                <a:cs typeface="Times New Roman" panose="02020603050405020304" pitchFamily="18" charset="0"/>
              </a:rPr>
              <a:t>Active Employee = SUM([Employee Count]) - SUM([Attrition Count])</a:t>
            </a:r>
          </a:p>
          <a:p>
            <a:pPr>
              <a:lnSpc>
                <a:spcPct val="150000"/>
              </a:lnSpc>
            </a:pPr>
            <a:r>
              <a:rPr lang="en-IN" sz="1600" dirty="0">
                <a:latin typeface="Times New Roman" panose="02020603050405020304" pitchFamily="18" charset="0"/>
                <a:cs typeface="Times New Roman" panose="02020603050405020304" pitchFamily="18" charset="0"/>
              </a:rPr>
              <a:t>Attrition Count=</a:t>
            </a:r>
            <a:r>
              <a:rPr lang="en-US" sz="1600" dirty="0">
                <a:latin typeface="Times New Roman" panose="02020603050405020304" pitchFamily="18" charset="0"/>
                <a:cs typeface="Times New Roman" panose="02020603050405020304" pitchFamily="18" charset="0"/>
              </a:rPr>
              <a:t>IF [Attrition] = "Yes" THEN 1ELSE 0 END</a:t>
            </a:r>
          </a:p>
          <a:p>
            <a:pPr>
              <a:lnSpc>
                <a:spcPct val="150000"/>
              </a:lnSpc>
            </a:pPr>
            <a:r>
              <a:rPr lang="en-US" sz="1600" dirty="0">
                <a:latin typeface="Times New Roman" panose="02020603050405020304" pitchFamily="18" charset="0"/>
                <a:cs typeface="Times New Roman" panose="02020603050405020304" pitchFamily="18" charset="0"/>
              </a:rPr>
              <a:t>Attrition Rate = SUM([Attrition Count]) / SUM([Employee Count])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3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654D-3AF1-A1B8-35B0-3C1108342661}"/>
              </a:ext>
            </a:extLst>
          </p:cNvPr>
          <p:cNvSpPr>
            <a:spLocks noGrp="1"/>
          </p:cNvSpPr>
          <p:nvPr>
            <p:ph type="title"/>
          </p:nvPr>
        </p:nvSpPr>
        <p:spPr>
          <a:xfrm>
            <a:off x="1543575" y="897622"/>
            <a:ext cx="9961038" cy="1007378"/>
          </a:xfrm>
        </p:spPr>
        <p:txBody>
          <a:bodyPr>
            <a:normAutofit/>
          </a:bodyPr>
          <a:lstStyle/>
          <a:p>
            <a:pPr algn="ctr"/>
            <a:r>
              <a:rPr lang="en-IN" sz="4400" dirty="0">
                <a:latin typeface="Times New Roman" panose="02020603050405020304" pitchFamily="18" charset="0"/>
                <a:cs typeface="Times New Roman" panose="02020603050405020304" pitchFamily="18" charset="0"/>
              </a:rPr>
              <a:t>Key Findings</a:t>
            </a:r>
          </a:p>
        </p:txBody>
      </p:sp>
      <p:sp>
        <p:nvSpPr>
          <p:cNvPr id="3" name="Content Placeholder 2">
            <a:extLst>
              <a:ext uri="{FF2B5EF4-FFF2-40B4-BE49-F238E27FC236}">
                <a16:creationId xmlns:a16="http://schemas.microsoft.com/office/drawing/2014/main" id="{67C07E40-FF14-8AB2-2DF8-ADB77DCD073F}"/>
              </a:ext>
            </a:extLst>
          </p:cNvPr>
          <p:cNvSpPr>
            <a:spLocks noGrp="1"/>
          </p:cNvSpPr>
          <p:nvPr>
            <p:ph idx="1"/>
          </p:nvPr>
        </p:nvSpPr>
        <p:spPr>
          <a:xfrm>
            <a:off x="1889760" y="2397759"/>
            <a:ext cx="9133840" cy="2956561"/>
          </a:xfrm>
        </p:spPr>
        <p:txBody>
          <a:bodyPr>
            <a:normAutofit fontScale="92500"/>
          </a:bodyPr>
          <a:lstStyle/>
          <a:p>
            <a:pPr algn="just"/>
            <a:r>
              <a:rPr lang="en-US" sz="1700" dirty="0">
                <a:latin typeface="Times New Roman" panose="02020603050405020304" pitchFamily="18" charset="0"/>
                <a:cs typeface="Times New Roman" panose="02020603050405020304" pitchFamily="18" charset="0"/>
              </a:rPr>
              <a:t>The organization has 1470 employees with 1233 active employees and an attrition rate of 16.12%, while the average employee age is 37 years, indicating a mid-career workforce with moderate turnover.</a:t>
            </a:r>
          </a:p>
          <a:p>
            <a:pPr algn="just"/>
            <a:r>
              <a:rPr lang="en-US" sz="1700" dirty="0">
                <a:latin typeface="Times New Roman" panose="02020603050405020304" pitchFamily="18" charset="0"/>
                <a:cs typeface="Times New Roman" panose="02020603050405020304" pitchFamily="18" charset="0"/>
              </a:rPr>
              <a:t>Research &amp; Development department records the highest attrition, followed by Sales, while Human Resources has the lowest attrition, showing that employee turnover is more concentrated in technical and operational departments.</a:t>
            </a:r>
          </a:p>
          <a:p>
            <a:pPr algn="just"/>
            <a:r>
              <a:rPr lang="en-US" sz="1700" dirty="0">
                <a:latin typeface="Times New Roman" panose="02020603050405020304" pitchFamily="18" charset="0"/>
                <a:cs typeface="Times New Roman" panose="02020603050405020304" pitchFamily="18" charset="0"/>
              </a:rPr>
              <a:t>The workforce is largely concentrated between ages 27–36, with age 33 having the highest number of employees (213) with 31 attrition, while age 30 (190 employees, 38 attrition) and age 27 (164 employees, 35 attrition) also show notable employee turnover.</a:t>
            </a:r>
          </a:p>
          <a:p>
            <a:pPr algn="just"/>
            <a:r>
              <a:rPr lang="en-US" sz="1700" dirty="0">
                <a:latin typeface="Times New Roman" panose="02020603050405020304" pitchFamily="18" charset="0"/>
                <a:cs typeface="Times New Roman" panose="02020603050405020304" pitchFamily="18" charset="0"/>
              </a:rPr>
              <a:t>Male employees contribute more to attrition (150 employees) compared to female employees (87 employees), reflecting the higher representation of male employees in the workforce.</a:t>
            </a:r>
          </a:p>
          <a:p>
            <a:endParaRPr lang="en-IN" dirty="0"/>
          </a:p>
        </p:txBody>
      </p:sp>
    </p:spTree>
    <p:extLst>
      <p:ext uri="{BB962C8B-B14F-4D97-AF65-F5344CB8AC3E}">
        <p14:creationId xmlns:p14="http://schemas.microsoft.com/office/powerpoint/2010/main" val="2273288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AE68B-CE87-68E9-AF07-8B8A1FF139FB}"/>
              </a:ext>
            </a:extLst>
          </p:cNvPr>
          <p:cNvSpPr>
            <a:spLocks noGrp="1"/>
          </p:cNvSpPr>
          <p:nvPr>
            <p:ph idx="1"/>
          </p:nvPr>
        </p:nvSpPr>
        <p:spPr>
          <a:xfrm>
            <a:off x="1991359" y="2206304"/>
            <a:ext cx="9113521" cy="2995615"/>
          </a:xfrm>
        </p:spPr>
        <p:txBody>
          <a:bodyPr>
            <a:normAutofit/>
          </a:bodyPr>
          <a:lstStyle/>
          <a:p>
            <a:pPr algn="just"/>
            <a:r>
              <a:rPr lang="en-US" sz="1600" dirty="0">
                <a:latin typeface="Times New Roman" panose="02020603050405020304" pitchFamily="18" charset="0"/>
                <a:cs typeface="Times New Roman" panose="02020603050405020304" pitchFamily="18" charset="0"/>
              </a:rPr>
              <a:t>The 25–34 age group experiences the highest attrition (112 employees) compared with Under 25 (38), 35–44 (51), 45–54 (25), and Over 55 (11), indicating that younger professionals change jobs more frequently.</a:t>
            </a:r>
          </a:p>
          <a:p>
            <a:pPr algn="just"/>
            <a:r>
              <a:rPr lang="en-US" sz="1600" dirty="0">
                <a:latin typeface="Times New Roman" panose="02020603050405020304" pitchFamily="18" charset="0"/>
                <a:cs typeface="Times New Roman" panose="02020603050405020304" pitchFamily="18" charset="0"/>
              </a:rPr>
              <a:t>Sales Executives (326 employees), Research Scientists (292), and Laboratory Technicians (259) represent the largest job roles and mostly fall under higher job satisfaction ratings (3 and 4), whereas Human Resources (52 employees) shows comparatively lower satisfaction levels.</a:t>
            </a:r>
          </a:p>
          <a:p>
            <a:pPr algn="just"/>
            <a:r>
              <a:rPr lang="en-US" sz="1600" dirty="0">
                <a:latin typeface="Times New Roman" panose="02020603050405020304" pitchFamily="18" charset="0"/>
                <a:cs typeface="Times New Roman" panose="02020603050405020304" pitchFamily="18" charset="0"/>
              </a:rPr>
              <a:t>Employees from Life Sciences and Medical education fields contribute the largest share of attrition, as these fields represent a significant portion of the workforce and have strong external employment opportunities.</a:t>
            </a:r>
          </a:p>
          <a:p>
            <a:endParaRPr lang="en-IN" dirty="0"/>
          </a:p>
        </p:txBody>
      </p:sp>
    </p:spTree>
    <p:extLst>
      <p:ext uri="{BB962C8B-B14F-4D97-AF65-F5344CB8AC3E}">
        <p14:creationId xmlns:p14="http://schemas.microsoft.com/office/powerpoint/2010/main" val="3543722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pic>
        <p:nvPicPr>
          <p:cNvPr id="5" name="Picture 4" descr="Digital financial graph">
            <a:extLst>
              <a:ext uri="{FF2B5EF4-FFF2-40B4-BE49-F238E27FC236}">
                <a16:creationId xmlns:a16="http://schemas.microsoft.com/office/drawing/2014/main" id="{49BC9E97-1C38-EFFC-81D0-C69D517C88E0}"/>
              </a:ext>
            </a:extLst>
          </p:cNvPr>
          <p:cNvPicPr>
            <a:picLocks noChangeAspect="1"/>
          </p:cNvPicPr>
          <p:nvPr/>
        </p:nvPicPr>
        <p:blipFill>
          <a:blip r:embed="rId2">
            <a:duotone>
              <a:schemeClr val="bg2">
                <a:shade val="45000"/>
                <a:satMod val="135000"/>
              </a:schemeClr>
              <a:prstClr val="white"/>
            </a:duotone>
            <a:alphaModFix amt="40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58ADBF6-F25A-1502-1D29-8AB69700F5A0}"/>
              </a:ext>
            </a:extLst>
          </p:cNvPr>
          <p:cNvSpPr>
            <a:spLocks noGrp="1"/>
          </p:cNvSpPr>
          <p:nvPr>
            <p:ph type="title"/>
          </p:nvPr>
        </p:nvSpPr>
        <p:spPr>
          <a:xfrm>
            <a:off x="1073359" y="948912"/>
            <a:ext cx="10431254" cy="956087"/>
          </a:xfrm>
        </p:spPr>
        <p:txBody>
          <a:bodyPr>
            <a:normAutofit/>
          </a:bodyPr>
          <a:lstStyle/>
          <a:p>
            <a:pPr algn="ctr"/>
            <a:r>
              <a:rPr lang="en-IN" sz="4400">
                <a:latin typeface="Times New Roman" panose="02020603050405020304" pitchFamily="18" charset="0"/>
                <a:cs typeface="Times New Roman" panose="02020603050405020304" pitchFamily="18" charset="0"/>
              </a:rPr>
              <a:t>Conclusion</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CCFB8A-A1AA-EBB8-3999-2D885EA5DE69}"/>
              </a:ext>
            </a:extLst>
          </p:cNvPr>
          <p:cNvSpPr>
            <a:spLocks noGrp="1"/>
          </p:cNvSpPr>
          <p:nvPr>
            <p:ph idx="1"/>
          </p:nvPr>
        </p:nvSpPr>
        <p:spPr>
          <a:xfrm>
            <a:off x="1697488" y="2133599"/>
            <a:ext cx="9488214" cy="3763571"/>
          </a:xfrm>
        </p:spPr>
        <p:txBody>
          <a:bodyPr>
            <a:normAutofit/>
          </a:bodyPr>
          <a:lstStyle/>
          <a:p>
            <a:pPr>
              <a:lnSpc>
                <a:spcPct val="90000"/>
              </a:lnSpc>
            </a:pPr>
            <a:endParaRPr lang="en-US" sz="1500" dirty="0">
              <a:latin typeface="Times New Roman" panose="02020603050405020304" pitchFamily="18" charset="0"/>
              <a:cs typeface="Times New Roman" panose="02020603050405020304" pitchFamily="18" charset="0"/>
            </a:endParaRPr>
          </a:p>
          <a:p>
            <a:pPr algn="just">
              <a:lnSpc>
                <a:spcPct val="90000"/>
              </a:lnSpc>
            </a:pPr>
            <a:r>
              <a:rPr lang="en-US" sz="1500">
                <a:latin typeface="Times New Roman" panose="02020603050405020304" pitchFamily="18" charset="0"/>
                <a:cs typeface="Times New Roman" panose="02020603050405020304" pitchFamily="18" charset="0"/>
              </a:rPr>
              <a:t>The HR analytics dashboard developed using Tableau provides a comprehensive view of employee data and highlights important patterns related to workforce distribution, attrition, and job satisfaction.</a:t>
            </a:r>
          </a:p>
          <a:p>
            <a:pPr algn="just">
              <a:lnSpc>
                <a:spcPct val="90000"/>
              </a:lnSpc>
            </a:pPr>
            <a:r>
              <a:rPr lang="en-US" sz="1500">
                <a:latin typeface="Times New Roman" panose="02020603050405020304" pitchFamily="18" charset="0"/>
                <a:cs typeface="Times New Roman" panose="02020603050405020304" pitchFamily="18" charset="0"/>
              </a:rPr>
              <a:t>The dashboard analysis shows that the organization has 1470 employees with 1233 active employees and an overall attrition rate of 16.12%, indicating a moderate level of employee turnover. Organizations should focus on effective retention strategies and employee engagement programs to reduce turnover.</a:t>
            </a:r>
          </a:p>
          <a:p>
            <a:pPr algn="just">
              <a:lnSpc>
                <a:spcPct val="90000"/>
              </a:lnSpc>
            </a:pPr>
            <a:r>
              <a:rPr lang="en-US" sz="1500">
                <a:latin typeface="Times New Roman" panose="02020603050405020304" pitchFamily="18" charset="0"/>
                <a:cs typeface="Times New Roman" panose="02020603050405020304" pitchFamily="18" charset="0"/>
              </a:rPr>
              <a:t>The analysis shows that the Research &amp; Development department has the highest attrition, indicating higher employee movement in technical roles. Organizations can address this by offering clear career progression, competitive compensation, and opportunities for innovation and skill development.</a:t>
            </a:r>
          </a:p>
          <a:p>
            <a:pPr algn="just">
              <a:lnSpc>
                <a:spcPct val="90000"/>
              </a:lnSpc>
            </a:pPr>
            <a:r>
              <a:rPr lang="en-US" sz="1500">
                <a:latin typeface="Times New Roman" panose="02020603050405020304" pitchFamily="18" charset="0"/>
                <a:cs typeface="Times New Roman" panose="02020603050405020304" pitchFamily="18" charset="0"/>
              </a:rPr>
              <a:t>The 25–34 age group experiences the highest attrition, suggesting that younger employees are more likely to explore better career opportunities. Companies should focus on mentorship programs, continuous learning opportunities, and transparent promotion pathways to improve retention.</a:t>
            </a:r>
          </a:p>
          <a:p>
            <a:pPr marL="0" indent="0">
              <a:lnSpc>
                <a:spcPct val="90000"/>
              </a:lnSpc>
              <a:buNone/>
            </a:pPr>
            <a:r>
              <a:rPr lang="en-US" sz="150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a:p>
            <a:pPr>
              <a:lnSpc>
                <a:spcPct val="90000"/>
              </a:lnSpc>
            </a:pPr>
            <a:endParaRPr lang="en-IN" sz="1500" dirty="0"/>
          </a:p>
        </p:txBody>
      </p:sp>
    </p:spTree>
    <p:extLst>
      <p:ext uri="{BB962C8B-B14F-4D97-AF65-F5344CB8AC3E}">
        <p14:creationId xmlns:p14="http://schemas.microsoft.com/office/powerpoint/2010/main" val="1764009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D4E3B27-B694-ADF2-F195-15F67E77005B}"/>
              </a:ext>
            </a:extLst>
          </p:cNvPr>
          <p:cNvSpPr>
            <a:spLocks noGrp="1" noChangeArrowheads="1"/>
          </p:cNvSpPr>
          <p:nvPr>
            <p:ph idx="1"/>
          </p:nvPr>
        </p:nvSpPr>
        <p:spPr bwMode="auto">
          <a:xfrm>
            <a:off x="1115736" y="1883543"/>
            <a:ext cx="10142290" cy="339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ts val="300"/>
              </a:spcBef>
              <a:spcAft>
                <a:spcPts val="600"/>
              </a:spcAft>
            </a:pPr>
            <a:r>
              <a:rPr lang="en-US" sz="1600" dirty="0">
                <a:latin typeface="Times New Roman" panose="02020603050405020304" pitchFamily="18" charset="0"/>
                <a:cs typeface="Times New Roman" panose="02020603050405020304" pitchFamily="18" charset="0"/>
              </a:rPr>
              <a:t>The dashboard indicates higher attrition among male employees, which is mainly due to their larger representation in the workforce. Ensuring equal growth opportunities, work-life balance initiatives, and employee engagement programs can help maintain workforce stability</a:t>
            </a:r>
            <a:endPar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job satisfaction analysis shows that major job roles such as Sales Executives, Research Scientists, and Laboratory Technicians have higher satisfaction levels, while some roles show relatively lower satisfaction. Improving work environment, leadership support, and employee recognition programs can further enhance satisfaction across all roles.</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also reveals that employees from Life Sciences and Medical education fields contribute a significant share of attrition, likely due to strong demand for these skills in the job market. Organizations should invest in professional development, specialized training, and retention incentives to retain these skilled employees.</a:t>
            </a:r>
          </a:p>
          <a:p>
            <a:pPr algn="just" defTabSz="914400" eaLnBrk="0" fontAlgn="base" hangingPunct="0">
              <a:spcBef>
                <a:spcPts val="300"/>
              </a:spcBef>
              <a:spcAft>
                <a:spcPts val="600"/>
              </a:spcAft>
              <a:buClrTx/>
            </a:pPr>
            <a:r>
              <a:rPr kumimoji="0" lang="en-US" altLang="en-US" sz="16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dashboard demonstrates how HR analytics can help organizations identify key factors influencing employee turnover and implement targeted strategies to improve employee retention and workforce productivity.</a:t>
            </a:r>
          </a:p>
        </p:txBody>
      </p:sp>
    </p:spTree>
    <p:extLst>
      <p:ext uri="{BB962C8B-B14F-4D97-AF65-F5344CB8AC3E}">
        <p14:creationId xmlns:p14="http://schemas.microsoft.com/office/powerpoint/2010/main" val="3509432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9DC7C8-CFBD-BE9D-27B4-A64A515AD509}"/>
              </a:ext>
            </a:extLst>
          </p:cNvPr>
          <p:cNvSpPr txBox="1"/>
          <p:nvPr/>
        </p:nvSpPr>
        <p:spPr>
          <a:xfrm>
            <a:off x="1048624" y="2894202"/>
            <a:ext cx="10133902" cy="1015663"/>
          </a:xfrm>
          <a:prstGeom prst="rect">
            <a:avLst/>
          </a:prstGeom>
          <a:noFill/>
        </p:spPr>
        <p:txBody>
          <a:bodyPr wrap="square">
            <a:spAutoFit/>
          </a:bodyPr>
          <a:lstStyle/>
          <a:p>
            <a:pPr algn="ctr"/>
            <a:r>
              <a:rPr lang="en-IN" sz="6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0666614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269</TotalTime>
  <Words>834</Words>
  <Application>Microsoft Office PowerPoint</Application>
  <PresentationFormat>Widescreen</PresentationFormat>
  <Paragraphs>40</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Century Gothic</vt:lpstr>
      <vt:lpstr>Times New Roman</vt:lpstr>
      <vt:lpstr>Wingdings 3</vt:lpstr>
      <vt:lpstr>Wisp</vt:lpstr>
      <vt:lpstr>HR ANALYTICS</vt:lpstr>
      <vt:lpstr>Introduction to HR Analytics</vt:lpstr>
      <vt:lpstr>Objective of Study</vt:lpstr>
      <vt:lpstr>Calculated fields used</vt:lpstr>
      <vt:lpstr>Key Findings</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praisy uthuppan</dc:creator>
  <cp:lastModifiedBy>praisy uthuppan</cp:lastModifiedBy>
  <cp:revision>6</cp:revision>
  <dcterms:created xsi:type="dcterms:W3CDTF">2026-03-13T05:22:59Z</dcterms:created>
  <dcterms:modified xsi:type="dcterms:W3CDTF">2026-03-14T06:46:30Z</dcterms:modified>
</cp:coreProperties>
</file>